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Bold" charset="1" panose="00000800000000000000"/>
      <p:regular r:id="rId17"/>
    </p:embeddedFont>
    <p:embeddedFont>
      <p:font typeface="Telegraf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82217" y="2332244"/>
            <a:ext cx="7706960" cy="7706960"/>
          </a:xfrm>
          <a:custGeom>
            <a:avLst/>
            <a:gdLst/>
            <a:ahLst/>
            <a:cxnLst/>
            <a:rect r="r" b="b" t="t" l="l"/>
            <a:pathLst>
              <a:path h="7706960" w="7706960">
                <a:moveTo>
                  <a:pt x="0" y="0"/>
                </a:moveTo>
                <a:lnTo>
                  <a:pt x="7706960" y="0"/>
                </a:lnTo>
                <a:lnTo>
                  <a:pt x="7706960" y="7706960"/>
                </a:lnTo>
                <a:lnTo>
                  <a:pt x="0" y="7706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25601" y="56915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174266">
            <a:off x="-539311" y="1606440"/>
            <a:ext cx="3900861" cy="2283777"/>
          </a:xfrm>
          <a:custGeom>
            <a:avLst/>
            <a:gdLst/>
            <a:ahLst/>
            <a:cxnLst/>
            <a:rect r="r" b="b" t="t" l="l"/>
            <a:pathLst>
              <a:path h="2283777" w="3900861">
                <a:moveTo>
                  <a:pt x="0" y="0"/>
                </a:moveTo>
                <a:lnTo>
                  <a:pt x="3900861" y="0"/>
                </a:lnTo>
                <a:lnTo>
                  <a:pt x="3900861" y="2283776"/>
                </a:lnTo>
                <a:lnTo>
                  <a:pt x="0" y="2283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34970" y="1618746"/>
            <a:ext cx="15018061" cy="6407137"/>
            <a:chOff x="0" y="0"/>
            <a:chExt cx="20024081" cy="854284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882026"/>
              <a:ext cx="16505825" cy="6608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1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0"/>
              <a:ext cx="20024081" cy="7715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79"/>
                </a:lnSpc>
              </a:pPr>
              <a:r>
                <a:rPr lang="en-US" sz="9399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AI-Based KPI Audit Framework for Promotion Fairness in Human Resources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1540793" y="10287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1028700" y="1342293"/>
            <a:ext cx="1623060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914358" y="468905"/>
            <a:ext cx="501221" cy="752965"/>
          </a:xfrm>
          <a:custGeom>
            <a:avLst/>
            <a:gdLst/>
            <a:ahLst/>
            <a:cxnLst/>
            <a:rect r="r" b="b" t="t" l="l"/>
            <a:pathLst>
              <a:path h="752965" w="501221">
                <a:moveTo>
                  <a:pt x="0" y="0"/>
                </a:moveTo>
                <a:lnTo>
                  <a:pt x="501221" y="0"/>
                </a:lnTo>
                <a:lnTo>
                  <a:pt x="501221" y="752965"/>
                </a:lnTo>
                <a:lnTo>
                  <a:pt x="0" y="752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113" t="0" r="-25113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3200" y="461928"/>
            <a:ext cx="811158" cy="811158"/>
          </a:xfrm>
          <a:custGeom>
            <a:avLst/>
            <a:gdLst/>
            <a:ahLst/>
            <a:cxnLst/>
            <a:rect r="r" b="b" t="t" l="l"/>
            <a:pathLst>
              <a:path h="811158" w="811158">
                <a:moveTo>
                  <a:pt x="0" y="0"/>
                </a:moveTo>
                <a:lnTo>
                  <a:pt x="811158" y="0"/>
                </a:lnTo>
                <a:lnTo>
                  <a:pt x="811158" y="811158"/>
                </a:lnTo>
                <a:lnTo>
                  <a:pt x="0" y="8111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945006" y="8115198"/>
            <a:ext cx="5445039" cy="771627"/>
            <a:chOff x="0" y="0"/>
            <a:chExt cx="7260052" cy="1028836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6342246" cy="4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Supervisor: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35864"/>
              <a:ext cx="7260052" cy="4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Assistant Professor Dr. Waqar BADSHAH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124723"/>
            <a:ext cx="4756684" cy="1133577"/>
            <a:chOff x="0" y="0"/>
            <a:chExt cx="6342246" cy="151143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6342246" cy="4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535864"/>
              <a:ext cx="6342246" cy="975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59"/>
                </a:lnSpc>
              </a:pPr>
              <a:r>
                <a:rPr lang="en-US" sz="21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İrem YILDIZ</a:t>
              </a:r>
            </a:p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0515220009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28700" y="8991600"/>
            <a:ext cx="4756684" cy="771627"/>
            <a:chOff x="0" y="0"/>
            <a:chExt cx="6342246" cy="102883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47625"/>
              <a:ext cx="6342246" cy="4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535864"/>
              <a:ext cx="6342246" cy="4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5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Graduation Project, 2026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236832" y="751226"/>
            <a:ext cx="2902235" cy="328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58"/>
              </a:lnSpc>
            </a:pPr>
            <a:r>
              <a:rPr lang="en-US" sz="1890" spc="94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JUNE 2026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2689989" y="845387"/>
            <a:ext cx="10607109" cy="349268"/>
            <a:chOff x="0" y="0"/>
            <a:chExt cx="14142812" cy="465691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23142"/>
              <a:ext cx="3897742" cy="442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4"/>
                </a:lnSpc>
              </a:pPr>
              <a:r>
                <a:rPr lang="en-US" sz="2219" spc="-11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İstanbul </a:t>
              </a:r>
              <a:r>
                <a:rPr lang="en-US" sz="2219" spc="-11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University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3709251" y="0"/>
              <a:ext cx="3897742" cy="442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4"/>
                </a:lnSpc>
              </a:pPr>
              <a:r>
                <a:rPr lang="en-US" sz="2219" spc="-11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Faculty of Economics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759393" y="0"/>
              <a:ext cx="6383419" cy="4425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74"/>
                </a:lnSpc>
              </a:pPr>
              <a:r>
                <a:rPr lang="en-US" sz="2219" spc="-11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Management Information Systems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5143" y="5293229"/>
            <a:ext cx="2811395" cy="2811395"/>
          </a:xfrm>
          <a:custGeom>
            <a:avLst/>
            <a:gdLst/>
            <a:ahLst/>
            <a:cxnLst/>
            <a:rect r="r" b="b" t="t" l="l"/>
            <a:pathLst>
              <a:path h="2811395" w="2811395">
                <a:moveTo>
                  <a:pt x="0" y="0"/>
                </a:moveTo>
                <a:lnTo>
                  <a:pt x="2811395" y="0"/>
                </a:lnTo>
                <a:lnTo>
                  <a:pt x="2811395" y="2811394"/>
                </a:lnTo>
                <a:lnTo>
                  <a:pt x="0" y="28113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316604" cy="10287000"/>
            <a:chOff x="0" y="0"/>
            <a:chExt cx="7088806" cy="137160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7088806" cy="13716000"/>
            </a:xfrm>
            <a:prstGeom prst="rect">
              <a:avLst/>
            </a:prstGeom>
            <a:solidFill>
              <a:srgbClr val="FFFFFF">
                <a:alpha val="75686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899138" y="602631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4378435" y="7885927"/>
            <a:ext cx="3414379" cy="1601654"/>
          </a:xfrm>
          <a:custGeom>
            <a:avLst/>
            <a:gdLst/>
            <a:ahLst/>
            <a:cxnLst/>
            <a:rect r="r" b="b" t="t" l="l"/>
            <a:pathLst>
              <a:path h="1601654" w="3414379">
                <a:moveTo>
                  <a:pt x="3414379" y="0"/>
                </a:moveTo>
                <a:lnTo>
                  <a:pt x="0" y="0"/>
                </a:lnTo>
                <a:lnTo>
                  <a:pt x="0" y="1601654"/>
                </a:lnTo>
                <a:lnTo>
                  <a:pt x="3414379" y="1601654"/>
                </a:lnTo>
                <a:lnTo>
                  <a:pt x="3414379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57765" y="4042428"/>
            <a:ext cx="8287378" cy="367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Historical HR decisions can include subjective or non-measurable factors.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AI models trained only on past promotion outcomes may reproduce existing bias.</a:t>
            </a:r>
          </a:p>
          <a:p>
            <a:pPr algn="l" marL="604518" indent="-302259" lvl="1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Therefore, AI should be used not only for prediction, but also for auditing fairness and consistency.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78223" y="952500"/>
            <a:ext cx="11381077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Research Problem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78223" y="2560461"/>
            <a:ext cx="11381077" cy="169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9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Promotion decisions may not always be fully aligned with measurable employee performance.</a:t>
            </a:r>
          </a:p>
          <a:p>
            <a:pPr algn="l">
              <a:lnSpc>
                <a:spcPts val="44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277052" y="2381250"/>
            <a:ext cx="4762500" cy="1333500"/>
            <a:chOff x="0" y="0"/>
            <a:chExt cx="63500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350000">
                  <a:moveTo>
                    <a:pt x="177800" y="0"/>
                  </a:moveTo>
                  <a:lnTo>
                    <a:pt x="6172200" y="0"/>
                  </a:lnTo>
                  <a:cubicBezTo>
                    <a:pt x="6270396" y="0"/>
                    <a:pt x="6350000" y="79604"/>
                    <a:pt x="6350000" y="177800"/>
                  </a:cubicBezTo>
                  <a:lnTo>
                    <a:pt x="6350000" y="1600200"/>
                  </a:lnTo>
                  <a:cubicBezTo>
                    <a:pt x="6350000" y="1698396"/>
                    <a:pt x="6270396" y="1778000"/>
                    <a:pt x="617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6350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Historical HR Decisions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2658302" y="3714750"/>
            <a:ext cx="0" cy="762000"/>
          </a:xfrm>
          <a:prstGeom prst="line">
            <a:avLst/>
          </a:prstGeom>
          <a:ln cap="rnd" w="28575">
            <a:solidFill>
              <a:srgbClr val="47B7B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277052" y="4476750"/>
            <a:ext cx="4762500" cy="1333500"/>
            <a:chOff x="0" y="0"/>
            <a:chExt cx="6350000" cy="177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350000">
                  <a:moveTo>
                    <a:pt x="177800" y="0"/>
                  </a:moveTo>
                  <a:lnTo>
                    <a:pt x="6172200" y="0"/>
                  </a:lnTo>
                  <a:cubicBezTo>
                    <a:pt x="6270396" y="0"/>
                    <a:pt x="6350000" y="79604"/>
                    <a:pt x="6350000" y="177800"/>
                  </a:cubicBezTo>
                  <a:lnTo>
                    <a:pt x="6350000" y="1600200"/>
                  </a:lnTo>
                  <a:cubicBezTo>
                    <a:pt x="6350000" y="1698396"/>
                    <a:pt x="6270396" y="1778000"/>
                    <a:pt x="617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6350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Bias / Subjectivity Risk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2658302" y="5810250"/>
            <a:ext cx="0" cy="762000"/>
          </a:xfrm>
          <a:prstGeom prst="line">
            <a:avLst/>
          </a:prstGeom>
          <a:ln cap="rnd" w="28575">
            <a:solidFill>
              <a:srgbClr val="47B7B2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277052" y="6572250"/>
            <a:ext cx="4762500" cy="1333500"/>
            <a:chOff x="0" y="0"/>
            <a:chExt cx="6350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350000">
                  <a:moveTo>
                    <a:pt x="177800" y="0"/>
                  </a:moveTo>
                  <a:lnTo>
                    <a:pt x="6172200" y="0"/>
                  </a:lnTo>
                  <a:cubicBezTo>
                    <a:pt x="6270396" y="0"/>
                    <a:pt x="6350000" y="79604"/>
                    <a:pt x="6350000" y="177800"/>
                  </a:cubicBezTo>
                  <a:lnTo>
                    <a:pt x="6350000" y="1600200"/>
                  </a:lnTo>
                  <a:cubicBezTo>
                    <a:pt x="6350000" y="1698396"/>
                    <a:pt x="6270396" y="1778000"/>
                    <a:pt x="617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6350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AI-Based KPI Audit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162306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Aim of the Study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196266"/>
            <a:ext cx="17047499" cy="169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This study aims to develop an AI-based KPI audit framework to evaluate promotion fairness in Human Resources.</a:t>
            </a:r>
          </a:p>
          <a:p>
            <a:pPr algn="l" marL="0" indent="0" lvl="0">
              <a:lnSpc>
                <a:spcPts val="447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4198617"/>
            <a:ext cx="4766313" cy="1692464"/>
            <a:chOff x="0" y="0"/>
            <a:chExt cx="1615020" cy="57347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5020" cy="573476"/>
            </a:xfrm>
            <a:custGeom>
              <a:avLst/>
              <a:gdLst/>
              <a:ahLst/>
              <a:cxnLst/>
              <a:rect r="r" b="b" t="t" l="l"/>
              <a:pathLst>
                <a:path h="573476" w="1615020">
                  <a:moveTo>
                    <a:pt x="0" y="0"/>
                  </a:moveTo>
                  <a:lnTo>
                    <a:pt x="1615020" y="0"/>
                  </a:lnTo>
                  <a:lnTo>
                    <a:pt x="1615020" y="573476"/>
                  </a:lnTo>
                  <a:lnTo>
                    <a:pt x="0" y="573476"/>
                  </a:ln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1615020" cy="668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Employee KPI Data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25665" y="4198617"/>
            <a:ext cx="4766313" cy="1692464"/>
            <a:chOff x="0" y="0"/>
            <a:chExt cx="1615020" cy="573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5020" cy="573476"/>
            </a:xfrm>
            <a:custGeom>
              <a:avLst/>
              <a:gdLst/>
              <a:ahLst/>
              <a:cxnLst/>
              <a:rect r="r" b="b" t="t" l="l"/>
              <a:pathLst>
                <a:path h="573476" w="1615020">
                  <a:moveTo>
                    <a:pt x="0" y="0"/>
                  </a:moveTo>
                  <a:lnTo>
                    <a:pt x="1615020" y="0"/>
                  </a:lnTo>
                  <a:lnTo>
                    <a:pt x="1615020" y="573476"/>
                  </a:lnTo>
                  <a:lnTo>
                    <a:pt x="0" y="573476"/>
                  </a:ln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0"/>
              <a:ext cx="1615020" cy="668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AI-Based </a:t>
              </a:r>
            </a:p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Audit Model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6291131"/>
            <a:ext cx="4775267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Compare KPI-based readiness with historical promotion outcomes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201900" y="819124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3040061" y="4198617"/>
            <a:ext cx="4766313" cy="1692464"/>
            <a:chOff x="0" y="0"/>
            <a:chExt cx="1615020" cy="573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15020" cy="573476"/>
            </a:xfrm>
            <a:custGeom>
              <a:avLst/>
              <a:gdLst/>
              <a:ahLst/>
              <a:cxnLst/>
              <a:rect r="r" b="b" t="t" l="l"/>
              <a:pathLst>
                <a:path h="573476" w="1615020">
                  <a:moveTo>
                    <a:pt x="0" y="0"/>
                  </a:moveTo>
                  <a:lnTo>
                    <a:pt x="1615020" y="0"/>
                  </a:lnTo>
                  <a:lnTo>
                    <a:pt x="1615020" y="573476"/>
                  </a:lnTo>
                  <a:lnTo>
                    <a:pt x="0" y="573476"/>
                  </a:ln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615020" cy="668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Promotion Fairness </a:t>
              </a:r>
            </a:p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Review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8100000">
            <a:off x="5663659" y="4395351"/>
            <a:ext cx="1017489" cy="1113055"/>
          </a:xfrm>
          <a:custGeom>
            <a:avLst/>
            <a:gdLst/>
            <a:ahLst/>
            <a:cxnLst/>
            <a:rect r="r" b="b" t="t" l="l"/>
            <a:pathLst>
              <a:path h="1113055" w="1017489">
                <a:moveTo>
                  <a:pt x="1017489" y="0"/>
                </a:moveTo>
                <a:lnTo>
                  <a:pt x="0" y="0"/>
                </a:lnTo>
                <a:lnTo>
                  <a:pt x="0" y="1113055"/>
                </a:lnTo>
                <a:lnTo>
                  <a:pt x="1017489" y="1113055"/>
                </a:lnTo>
                <a:lnTo>
                  <a:pt x="10174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320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8100000">
            <a:off x="11778056" y="4488321"/>
            <a:ext cx="1017489" cy="1113055"/>
          </a:xfrm>
          <a:custGeom>
            <a:avLst/>
            <a:gdLst/>
            <a:ahLst/>
            <a:cxnLst/>
            <a:rect r="r" b="b" t="t" l="l"/>
            <a:pathLst>
              <a:path h="1113055" w="1017489">
                <a:moveTo>
                  <a:pt x="1017489" y="0"/>
                </a:moveTo>
                <a:lnTo>
                  <a:pt x="0" y="0"/>
                </a:lnTo>
                <a:lnTo>
                  <a:pt x="0" y="1113056"/>
                </a:lnTo>
                <a:lnTo>
                  <a:pt x="1017489" y="1113056"/>
                </a:lnTo>
                <a:lnTo>
                  <a:pt x="10174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320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925665" y="6291131"/>
            <a:ext cx="4775267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Identify alignment and mismatch cases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5585" y="6291131"/>
            <a:ext cx="4775267" cy="159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Support transparent, evidence-based HR review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61863" y="-2879766"/>
            <a:ext cx="11958318" cy="11958318"/>
          </a:xfrm>
          <a:custGeom>
            <a:avLst/>
            <a:gdLst/>
            <a:ahLst/>
            <a:cxnLst/>
            <a:rect r="r" b="b" t="t" l="l"/>
            <a:pathLst>
              <a:path h="11958318" w="11958318">
                <a:moveTo>
                  <a:pt x="0" y="0"/>
                </a:moveTo>
                <a:lnTo>
                  <a:pt x="11958318" y="0"/>
                </a:lnTo>
                <a:lnTo>
                  <a:pt x="11958318" y="11958318"/>
                </a:lnTo>
                <a:lnTo>
                  <a:pt x="0" y="11958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858814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Methodology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4372" y="2516493"/>
            <a:ext cx="8339567" cy="589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study follows a KPI-based machine learning audit process.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Employee variables were grouped into four KPI dimensions.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 Random Forest model was trained on KPI-consistent standards.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Pr</a:t>
            </a: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edictions were compared with real promotion outcomes.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esults were interpreted through audit categories and SHAP.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459525" y="4466016"/>
            <a:ext cx="9956593" cy="9956593"/>
          </a:xfrm>
          <a:custGeom>
            <a:avLst/>
            <a:gdLst/>
            <a:ahLst/>
            <a:cxnLst/>
            <a:rect r="r" b="b" t="t" l="l"/>
            <a:pathLst>
              <a:path h="9956593" w="9956593">
                <a:moveTo>
                  <a:pt x="0" y="0"/>
                </a:moveTo>
                <a:lnTo>
                  <a:pt x="9956593" y="0"/>
                </a:lnTo>
                <a:lnTo>
                  <a:pt x="9956593" y="9956593"/>
                </a:lnTo>
                <a:lnTo>
                  <a:pt x="0" y="9956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781446" y="91221"/>
            <a:ext cx="2618327" cy="2617375"/>
            <a:chOff x="0" y="0"/>
            <a:chExt cx="813096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3096" cy="812800"/>
            </a:xfrm>
            <a:custGeom>
              <a:avLst/>
              <a:gdLst/>
              <a:ahLst/>
              <a:cxnLst/>
              <a:rect r="r" b="b" t="t" l="l"/>
              <a:pathLst>
                <a:path h="812800" w="813096">
                  <a:moveTo>
                    <a:pt x="406548" y="0"/>
                  </a:moveTo>
                  <a:cubicBezTo>
                    <a:pt x="182018" y="0"/>
                    <a:pt x="0" y="181951"/>
                    <a:pt x="0" y="406400"/>
                  </a:cubicBezTo>
                  <a:cubicBezTo>
                    <a:pt x="0" y="630849"/>
                    <a:pt x="182018" y="812800"/>
                    <a:pt x="406548" y="812800"/>
                  </a:cubicBezTo>
                  <a:cubicBezTo>
                    <a:pt x="631078" y="812800"/>
                    <a:pt x="813096" y="630849"/>
                    <a:pt x="813096" y="406400"/>
                  </a:cubicBezTo>
                  <a:cubicBezTo>
                    <a:pt x="813096" y="181951"/>
                    <a:pt x="631078" y="0"/>
                    <a:pt x="406548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28" y="-19050"/>
              <a:ext cx="66064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Raw Employee Data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209777" y="1399908"/>
            <a:ext cx="3405670" cy="3406642"/>
            <a:chOff x="0" y="0"/>
            <a:chExt cx="925914" cy="9261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5914" cy="926179"/>
            </a:xfrm>
            <a:custGeom>
              <a:avLst/>
              <a:gdLst/>
              <a:ahLst/>
              <a:cxnLst/>
              <a:rect r="r" b="b" t="t" l="l"/>
              <a:pathLst>
                <a:path h="926179" w="925914">
                  <a:moveTo>
                    <a:pt x="462957" y="0"/>
                  </a:moveTo>
                  <a:cubicBezTo>
                    <a:pt x="207273" y="0"/>
                    <a:pt x="0" y="207332"/>
                    <a:pt x="0" y="463089"/>
                  </a:cubicBezTo>
                  <a:cubicBezTo>
                    <a:pt x="0" y="718846"/>
                    <a:pt x="207273" y="926179"/>
                    <a:pt x="462957" y="926179"/>
                  </a:cubicBezTo>
                  <a:cubicBezTo>
                    <a:pt x="718641" y="926179"/>
                    <a:pt x="925914" y="718846"/>
                    <a:pt x="925914" y="463089"/>
                  </a:cubicBezTo>
                  <a:cubicBezTo>
                    <a:pt x="925914" y="207332"/>
                    <a:pt x="718641" y="0"/>
                    <a:pt x="462957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86804" y="-8421"/>
              <a:ext cx="752305" cy="847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Strategic KPI Construction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45852" y="3938575"/>
            <a:ext cx="2626629" cy="2617375"/>
            <a:chOff x="0" y="0"/>
            <a:chExt cx="815674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5674" cy="812800"/>
            </a:xfrm>
            <a:custGeom>
              <a:avLst/>
              <a:gdLst/>
              <a:ahLst/>
              <a:cxnLst/>
              <a:rect r="r" b="b" t="t" l="l"/>
              <a:pathLst>
                <a:path h="812800" w="815674">
                  <a:moveTo>
                    <a:pt x="407837" y="0"/>
                  </a:moveTo>
                  <a:cubicBezTo>
                    <a:pt x="182595" y="0"/>
                    <a:pt x="0" y="181951"/>
                    <a:pt x="0" y="406400"/>
                  </a:cubicBezTo>
                  <a:cubicBezTo>
                    <a:pt x="0" y="630849"/>
                    <a:pt x="182595" y="812800"/>
                    <a:pt x="407837" y="812800"/>
                  </a:cubicBezTo>
                  <a:cubicBezTo>
                    <a:pt x="633079" y="812800"/>
                    <a:pt x="815674" y="630849"/>
                    <a:pt x="815674" y="406400"/>
                  </a:cubicBezTo>
                  <a:cubicBezTo>
                    <a:pt x="815674" y="181951"/>
                    <a:pt x="633079" y="0"/>
                    <a:pt x="407837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469" y="-19050"/>
              <a:ext cx="662735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Random Forest Model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552298" y="5831550"/>
            <a:ext cx="3237102" cy="3247002"/>
            <a:chOff x="0" y="0"/>
            <a:chExt cx="1005250" cy="10083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250" cy="1008324"/>
            </a:xfrm>
            <a:custGeom>
              <a:avLst/>
              <a:gdLst/>
              <a:ahLst/>
              <a:cxnLst/>
              <a:rect r="r" b="b" t="t" l="l"/>
              <a:pathLst>
                <a:path h="1008324" w="1005250">
                  <a:moveTo>
                    <a:pt x="502625" y="0"/>
                  </a:moveTo>
                  <a:cubicBezTo>
                    <a:pt x="225033" y="0"/>
                    <a:pt x="0" y="225721"/>
                    <a:pt x="0" y="504162"/>
                  </a:cubicBezTo>
                  <a:cubicBezTo>
                    <a:pt x="0" y="782603"/>
                    <a:pt x="225033" y="1008324"/>
                    <a:pt x="502625" y="1008324"/>
                  </a:cubicBezTo>
                  <a:cubicBezTo>
                    <a:pt x="780217" y="1008324"/>
                    <a:pt x="1005250" y="782603"/>
                    <a:pt x="1005250" y="504162"/>
                  </a:cubicBezTo>
                  <a:cubicBezTo>
                    <a:pt x="1005250" y="225721"/>
                    <a:pt x="780217" y="0"/>
                    <a:pt x="502625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94242" y="-720"/>
              <a:ext cx="816766" cy="9145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 HR Audit Comparison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73940" y="6555950"/>
            <a:ext cx="3743824" cy="3613467"/>
            <a:chOff x="0" y="0"/>
            <a:chExt cx="1162608" cy="112212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62608" cy="1122127"/>
            </a:xfrm>
            <a:custGeom>
              <a:avLst/>
              <a:gdLst/>
              <a:ahLst/>
              <a:cxnLst/>
              <a:rect r="r" b="b" t="t" l="l"/>
              <a:pathLst>
                <a:path h="1122127" w="1162608">
                  <a:moveTo>
                    <a:pt x="581304" y="0"/>
                  </a:moveTo>
                  <a:cubicBezTo>
                    <a:pt x="260259" y="0"/>
                    <a:pt x="0" y="251197"/>
                    <a:pt x="0" y="561063"/>
                  </a:cubicBezTo>
                  <a:cubicBezTo>
                    <a:pt x="0" y="870930"/>
                    <a:pt x="260259" y="1122127"/>
                    <a:pt x="581304" y="1122127"/>
                  </a:cubicBezTo>
                  <a:cubicBezTo>
                    <a:pt x="902349" y="1122127"/>
                    <a:pt x="1162608" y="870930"/>
                    <a:pt x="1162608" y="561063"/>
                  </a:cubicBezTo>
                  <a:cubicBezTo>
                    <a:pt x="1162608" y="251197"/>
                    <a:pt x="902349" y="0"/>
                    <a:pt x="581304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08994" y="9949"/>
              <a:ext cx="944619" cy="10069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Audit Categories &amp; SHAP Interpretation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true" flipV="false" rot="9816304">
            <a:off x="13423448" y="73564"/>
            <a:ext cx="1909616" cy="2109054"/>
          </a:xfrm>
          <a:custGeom>
            <a:avLst/>
            <a:gdLst/>
            <a:ahLst/>
            <a:cxnLst/>
            <a:rect r="r" b="b" t="t" l="l"/>
            <a:pathLst>
              <a:path h="2109054" w="1909616">
                <a:moveTo>
                  <a:pt x="1909616" y="0"/>
                </a:moveTo>
                <a:lnTo>
                  <a:pt x="0" y="0"/>
                </a:lnTo>
                <a:lnTo>
                  <a:pt x="0" y="2109054"/>
                </a:lnTo>
                <a:lnTo>
                  <a:pt x="1909616" y="2109054"/>
                </a:lnTo>
                <a:lnTo>
                  <a:pt x="190961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4274" t="-8284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4404880">
            <a:off x="14192437" y="3883330"/>
            <a:ext cx="910119" cy="2019275"/>
          </a:xfrm>
          <a:custGeom>
            <a:avLst/>
            <a:gdLst/>
            <a:ahLst/>
            <a:cxnLst/>
            <a:rect r="r" b="b" t="t" l="l"/>
            <a:pathLst>
              <a:path h="2019275" w="910119">
                <a:moveTo>
                  <a:pt x="910119" y="0"/>
                </a:moveTo>
                <a:lnTo>
                  <a:pt x="0" y="0"/>
                </a:lnTo>
                <a:lnTo>
                  <a:pt x="0" y="2019276"/>
                </a:lnTo>
                <a:lnTo>
                  <a:pt x="910119" y="2019276"/>
                </a:lnTo>
                <a:lnTo>
                  <a:pt x="91011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28610" t="-13098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true" rot="-4828990">
            <a:off x="13674534" y="5768802"/>
            <a:ext cx="810640" cy="1574295"/>
          </a:xfrm>
          <a:custGeom>
            <a:avLst/>
            <a:gdLst/>
            <a:ahLst/>
            <a:cxnLst/>
            <a:rect r="r" b="b" t="t" l="l"/>
            <a:pathLst>
              <a:path h="1574295" w="810640">
                <a:moveTo>
                  <a:pt x="810641" y="1574295"/>
                </a:moveTo>
                <a:lnTo>
                  <a:pt x="0" y="1574295"/>
                </a:lnTo>
                <a:lnTo>
                  <a:pt x="0" y="0"/>
                </a:lnTo>
                <a:lnTo>
                  <a:pt x="810641" y="0"/>
                </a:lnTo>
                <a:lnTo>
                  <a:pt x="810641" y="157429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81207" t="-16801" r="0" b="-28265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false" rot="-1597633">
            <a:off x="12805067" y="8024445"/>
            <a:ext cx="2348652" cy="2208947"/>
          </a:xfrm>
          <a:custGeom>
            <a:avLst/>
            <a:gdLst/>
            <a:ahLst/>
            <a:cxnLst/>
            <a:rect r="r" b="b" t="t" l="l"/>
            <a:pathLst>
              <a:path h="2208947" w="2348652">
                <a:moveTo>
                  <a:pt x="2348652" y="0"/>
                </a:moveTo>
                <a:lnTo>
                  <a:pt x="0" y="0"/>
                </a:lnTo>
                <a:lnTo>
                  <a:pt x="0" y="2208947"/>
                </a:lnTo>
                <a:lnTo>
                  <a:pt x="2348652" y="2208947"/>
                </a:lnTo>
                <a:lnTo>
                  <a:pt x="23486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6089" t="-3387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15864" y="37973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06151" y="35957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45855" y="381000"/>
            <a:ext cx="1319629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Strategic KPI Construction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545855" y="2103764"/>
            <a:ext cx="4705293" cy="3387257"/>
            <a:chOff x="0" y="0"/>
            <a:chExt cx="1944621" cy="13998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44621" cy="1399898"/>
            </a:xfrm>
            <a:custGeom>
              <a:avLst/>
              <a:gdLst/>
              <a:ahLst/>
              <a:cxnLst/>
              <a:rect r="r" b="b" t="t" l="l"/>
              <a:pathLst>
                <a:path h="1399898" w="1944621">
                  <a:moveTo>
                    <a:pt x="32907" y="0"/>
                  </a:moveTo>
                  <a:lnTo>
                    <a:pt x="1911713" y="0"/>
                  </a:lnTo>
                  <a:cubicBezTo>
                    <a:pt x="1920441" y="0"/>
                    <a:pt x="1928811" y="3467"/>
                    <a:pt x="1934982" y="9638"/>
                  </a:cubicBezTo>
                  <a:cubicBezTo>
                    <a:pt x="1941154" y="15810"/>
                    <a:pt x="1944621" y="24180"/>
                    <a:pt x="1944621" y="32907"/>
                  </a:cubicBezTo>
                  <a:lnTo>
                    <a:pt x="1944621" y="1366990"/>
                  </a:lnTo>
                  <a:cubicBezTo>
                    <a:pt x="1944621" y="1385164"/>
                    <a:pt x="1929888" y="1399898"/>
                    <a:pt x="1911713" y="1399898"/>
                  </a:cubicBezTo>
                  <a:lnTo>
                    <a:pt x="32907" y="1399898"/>
                  </a:lnTo>
                  <a:cubicBezTo>
                    <a:pt x="14733" y="1399898"/>
                    <a:pt x="0" y="1385164"/>
                    <a:pt x="0" y="1366990"/>
                  </a:cubicBezTo>
                  <a:lnTo>
                    <a:pt x="0" y="32907"/>
                  </a:lnTo>
                  <a:cubicBezTo>
                    <a:pt x="0" y="14733"/>
                    <a:pt x="14733" y="0"/>
                    <a:pt x="32907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1944621" cy="149514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Performance KPI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Performance score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Projects handled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Training hours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491583" y="3797392"/>
            <a:ext cx="1339081" cy="1339081"/>
          </a:xfrm>
          <a:custGeom>
            <a:avLst/>
            <a:gdLst/>
            <a:ahLst/>
            <a:cxnLst/>
            <a:rect r="r" b="b" t="t" l="l"/>
            <a:pathLst>
              <a:path h="1339081" w="1339081">
                <a:moveTo>
                  <a:pt x="0" y="0"/>
                </a:moveTo>
                <a:lnTo>
                  <a:pt x="1339081" y="0"/>
                </a:lnTo>
                <a:lnTo>
                  <a:pt x="1339081" y="1339081"/>
                </a:lnTo>
                <a:lnTo>
                  <a:pt x="0" y="1339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706113" y="1902073"/>
            <a:ext cx="4705293" cy="3387257"/>
            <a:chOff x="0" y="0"/>
            <a:chExt cx="1944621" cy="13998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44621" cy="1399898"/>
            </a:xfrm>
            <a:custGeom>
              <a:avLst/>
              <a:gdLst/>
              <a:ahLst/>
              <a:cxnLst/>
              <a:rect r="r" b="b" t="t" l="l"/>
              <a:pathLst>
                <a:path h="1399898" w="1944621">
                  <a:moveTo>
                    <a:pt x="32907" y="0"/>
                  </a:moveTo>
                  <a:lnTo>
                    <a:pt x="1911713" y="0"/>
                  </a:lnTo>
                  <a:cubicBezTo>
                    <a:pt x="1920441" y="0"/>
                    <a:pt x="1928811" y="3467"/>
                    <a:pt x="1934982" y="9638"/>
                  </a:cubicBezTo>
                  <a:cubicBezTo>
                    <a:pt x="1941154" y="15810"/>
                    <a:pt x="1944621" y="24180"/>
                    <a:pt x="1944621" y="32907"/>
                  </a:cubicBezTo>
                  <a:lnTo>
                    <a:pt x="1944621" y="1366990"/>
                  </a:lnTo>
                  <a:cubicBezTo>
                    <a:pt x="1944621" y="1385164"/>
                    <a:pt x="1929888" y="1399898"/>
                    <a:pt x="1911713" y="1399898"/>
                  </a:cubicBezTo>
                  <a:lnTo>
                    <a:pt x="32907" y="1399898"/>
                  </a:lnTo>
                  <a:cubicBezTo>
                    <a:pt x="14733" y="1399898"/>
                    <a:pt x="0" y="1385164"/>
                    <a:pt x="0" y="1366990"/>
                  </a:cubicBezTo>
                  <a:lnTo>
                    <a:pt x="0" y="32907"/>
                  </a:lnTo>
                  <a:cubicBezTo>
                    <a:pt x="0" y="14733"/>
                    <a:pt x="14733" y="0"/>
                    <a:pt x="32907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0"/>
              <a:ext cx="1944621" cy="149514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Efficiency KPI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Work hours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Overtime hours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Attendance score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191525" y="5453900"/>
            <a:ext cx="1339081" cy="1339081"/>
          </a:xfrm>
          <a:custGeom>
            <a:avLst/>
            <a:gdLst/>
            <a:ahLst/>
            <a:cxnLst/>
            <a:rect r="r" b="b" t="t" l="l"/>
            <a:pathLst>
              <a:path h="1339081" w="1339081">
                <a:moveTo>
                  <a:pt x="0" y="0"/>
                </a:moveTo>
                <a:lnTo>
                  <a:pt x="1339081" y="0"/>
                </a:lnTo>
                <a:lnTo>
                  <a:pt x="1339081" y="1339081"/>
                </a:lnTo>
                <a:lnTo>
                  <a:pt x="0" y="13390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545855" y="5871043"/>
            <a:ext cx="4705293" cy="3387257"/>
            <a:chOff x="0" y="0"/>
            <a:chExt cx="1944621" cy="139989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44621" cy="1399898"/>
            </a:xfrm>
            <a:custGeom>
              <a:avLst/>
              <a:gdLst/>
              <a:ahLst/>
              <a:cxnLst/>
              <a:rect r="r" b="b" t="t" l="l"/>
              <a:pathLst>
                <a:path h="1399898" w="1944621">
                  <a:moveTo>
                    <a:pt x="32907" y="0"/>
                  </a:moveTo>
                  <a:lnTo>
                    <a:pt x="1911713" y="0"/>
                  </a:lnTo>
                  <a:cubicBezTo>
                    <a:pt x="1920441" y="0"/>
                    <a:pt x="1928811" y="3467"/>
                    <a:pt x="1934982" y="9638"/>
                  </a:cubicBezTo>
                  <a:cubicBezTo>
                    <a:pt x="1941154" y="15810"/>
                    <a:pt x="1944621" y="24180"/>
                    <a:pt x="1944621" y="32907"/>
                  </a:cubicBezTo>
                  <a:lnTo>
                    <a:pt x="1944621" y="1366990"/>
                  </a:lnTo>
                  <a:cubicBezTo>
                    <a:pt x="1944621" y="1385164"/>
                    <a:pt x="1929888" y="1399898"/>
                    <a:pt x="1911713" y="1399898"/>
                  </a:cubicBezTo>
                  <a:lnTo>
                    <a:pt x="32907" y="1399898"/>
                  </a:lnTo>
                  <a:cubicBezTo>
                    <a:pt x="14733" y="1399898"/>
                    <a:pt x="0" y="1385164"/>
                    <a:pt x="0" y="1366990"/>
                  </a:cubicBezTo>
                  <a:lnTo>
                    <a:pt x="0" y="32907"/>
                  </a:lnTo>
                  <a:cubicBezTo>
                    <a:pt x="0" y="14733"/>
                    <a:pt x="14733" y="0"/>
                    <a:pt x="32907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0"/>
              <a:ext cx="1944621" cy="149514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Commitment KPI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Satisfaction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Years at company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Remote work frequency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06113" y="5871043"/>
            <a:ext cx="4705293" cy="3387257"/>
            <a:chOff x="0" y="0"/>
            <a:chExt cx="1944621" cy="139989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4621" cy="1399898"/>
            </a:xfrm>
            <a:custGeom>
              <a:avLst/>
              <a:gdLst/>
              <a:ahLst/>
              <a:cxnLst/>
              <a:rect r="r" b="b" t="t" l="l"/>
              <a:pathLst>
                <a:path h="1399898" w="1944621">
                  <a:moveTo>
                    <a:pt x="32907" y="0"/>
                  </a:moveTo>
                  <a:lnTo>
                    <a:pt x="1911713" y="0"/>
                  </a:lnTo>
                  <a:cubicBezTo>
                    <a:pt x="1920441" y="0"/>
                    <a:pt x="1928811" y="3467"/>
                    <a:pt x="1934982" y="9638"/>
                  </a:cubicBezTo>
                  <a:cubicBezTo>
                    <a:pt x="1941154" y="15810"/>
                    <a:pt x="1944621" y="24180"/>
                    <a:pt x="1944621" y="32907"/>
                  </a:cubicBezTo>
                  <a:lnTo>
                    <a:pt x="1944621" y="1366990"/>
                  </a:lnTo>
                  <a:cubicBezTo>
                    <a:pt x="1944621" y="1385164"/>
                    <a:pt x="1929888" y="1399898"/>
                    <a:pt x="1911713" y="1399898"/>
                  </a:cubicBezTo>
                  <a:lnTo>
                    <a:pt x="32907" y="1399898"/>
                  </a:lnTo>
                  <a:cubicBezTo>
                    <a:pt x="14733" y="1399898"/>
                    <a:pt x="0" y="1385164"/>
                    <a:pt x="0" y="1366990"/>
                  </a:cubicBezTo>
                  <a:lnTo>
                    <a:pt x="0" y="32907"/>
                  </a:lnTo>
                  <a:cubicBezTo>
                    <a:pt x="0" y="14733"/>
                    <a:pt x="14733" y="0"/>
                    <a:pt x="32907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0"/>
              <a:ext cx="1944621" cy="149514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4480"/>
                </a:lnSpc>
              </a:pPr>
              <a:r>
                <a:rPr lang="en-US" sz="32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Profile KPI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Education level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Age</a:t>
              </a:r>
            </a:p>
            <a:p>
              <a:pPr algn="ctr">
                <a:lnSpc>
                  <a:spcPts val="4480"/>
                </a:lnSpc>
              </a:pPr>
              <a:r>
                <a:rPr lang="en-US" sz="32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Resignation status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485775"/>
            <a:ext cx="17259300" cy="9286429"/>
            <a:chOff x="0" y="0"/>
            <a:chExt cx="4545659" cy="244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5659" cy="2445808"/>
            </a:xfrm>
            <a:custGeom>
              <a:avLst/>
              <a:gdLst/>
              <a:ahLst/>
              <a:cxnLst/>
              <a:rect r="r" b="b" t="t" l="l"/>
              <a:pathLst>
                <a:path h="2445808" w="4545659">
                  <a:moveTo>
                    <a:pt x="8971" y="0"/>
                  </a:moveTo>
                  <a:lnTo>
                    <a:pt x="4536688" y="0"/>
                  </a:lnTo>
                  <a:cubicBezTo>
                    <a:pt x="4541643" y="0"/>
                    <a:pt x="4545659" y="4017"/>
                    <a:pt x="4545659" y="8971"/>
                  </a:cubicBezTo>
                  <a:lnTo>
                    <a:pt x="4545659" y="2436837"/>
                  </a:lnTo>
                  <a:cubicBezTo>
                    <a:pt x="4545659" y="2441792"/>
                    <a:pt x="4541643" y="2445808"/>
                    <a:pt x="4536688" y="2445808"/>
                  </a:cubicBezTo>
                  <a:lnTo>
                    <a:pt x="8971" y="2445808"/>
                  </a:lnTo>
                  <a:cubicBezTo>
                    <a:pt x="4017" y="2445808"/>
                    <a:pt x="0" y="2441792"/>
                    <a:pt x="0" y="2436837"/>
                  </a:cubicBezTo>
                  <a:lnTo>
                    <a:pt x="0" y="8971"/>
                  </a:lnTo>
                  <a:cubicBezTo>
                    <a:pt x="0" y="4017"/>
                    <a:pt x="4017" y="0"/>
                    <a:pt x="8971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545659" cy="2531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808401" y="6623918"/>
            <a:ext cx="6965249" cy="6965249"/>
          </a:xfrm>
          <a:custGeom>
            <a:avLst/>
            <a:gdLst/>
            <a:ahLst/>
            <a:cxnLst/>
            <a:rect r="r" b="b" t="t" l="l"/>
            <a:pathLst>
              <a:path h="6965249" w="6965249">
                <a:moveTo>
                  <a:pt x="0" y="0"/>
                </a:moveTo>
                <a:lnTo>
                  <a:pt x="6965249" y="0"/>
                </a:lnTo>
                <a:lnTo>
                  <a:pt x="6965249" y="6965249"/>
                </a:lnTo>
                <a:lnTo>
                  <a:pt x="0" y="6965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51235"/>
            <a:ext cx="12005412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Audit Framework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780567"/>
            <a:ext cx="1200541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Model predictions were compared with actual promotion outcomes to identify three audit categories.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71396" y="0"/>
            <a:ext cx="5316604" cy="10287000"/>
            <a:chOff x="0" y="0"/>
            <a:chExt cx="7088806" cy="13716000"/>
          </a:xfrm>
        </p:grpSpPr>
        <p:sp>
          <p:nvSpPr>
            <p:cNvPr name="AutoShape 9" id="9"/>
            <p:cNvSpPr/>
            <p:nvPr/>
          </p:nvSpPr>
          <p:spPr>
            <a:xfrm>
              <a:off x="0" y="0"/>
              <a:ext cx="7088806" cy="13716000"/>
            </a:xfrm>
            <a:prstGeom prst="rect">
              <a:avLst/>
            </a:prstGeom>
            <a:solidFill>
              <a:srgbClr val="FFFFFF">
                <a:alpha val="7568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248448" y="2381250"/>
            <a:ext cx="4762500" cy="1333500"/>
            <a:chOff x="0" y="0"/>
            <a:chExt cx="6350000" cy="177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350000">
                  <a:moveTo>
                    <a:pt x="177800" y="0"/>
                  </a:moveTo>
                  <a:lnTo>
                    <a:pt x="6172200" y="0"/>
                  </a:lnTo>
                  <a:cubicBezTo>
                    <a:pt x="6270396" y="0"/>
                    <a:pt x="6350000" y="79604"/>
                    <a:pt x="6350000" y="177800"/>
                  </a:cubicBezTo>
                  <a:lnTo>
                    <a:pt x="6350000" y="1600200"/>
                  </a:lnTo>
                  <a:cubicBezTo>
                    <a:pt x="6350000" y="1698396"/>
                    <a:pt x="6270396" y="1778000"/>
                    <a:pt x="617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0"/>
              <a:ext cx="6350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Ac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al 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Promotion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Out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15629698" y="3855500"/>
            <a:ext cx="0" cy="5736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248448" y="4476750"/>
            <a:ext cx="4762500" cy="1333500"/>
            <a:chOff x="0" y="0"/>
            <a:chExt cx="6350000" cy="177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350000">
                  <a:moveTo>
                    <a:pt x="177800" y="0"/>
                  </a:moveTo>
                  <a:lnTo>
                    <a:pt x="6172200" y="0"/>
                  </a:lnTo>
                  <a:cubicBezTo>
                    <a:pt x="6270396" y="0"/>
                    <a:pt x="6350000" y="79604"/>
                    <a:pt x="6350000" y="177800"/>
                  </a:cubicBezTo>
                  <a:lnTo>
                    <a:pt x="6350000" y="1600200"/>
                  </a:lnTo>
                  <a:cubicBezTo>
                    <a:pt x="6350000" y="1698396"/>
                    <a:pt x="6270396" y="1778000"/>
                    <a:pt x="617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6350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KPI-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Bas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ed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Model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ti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248448" y="6572250"/>
            <a:ext cx="4762500" cy="1333500"/>
            <a:chOff x="0" y="0"/>
            <a:chExt cx="6350000" cy="177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350000">
                  <a:moveTo>
                    <a:pt x="177800" y="0"/>
                  </a:moveTo>
                  <a:lnTo>
                    <a:pt x="6172200" y="0"/>
                  </a:lnTo>
                  <a:cubicBezTo>
                    <a:pt x="6270396" y="0"/>
                    <a:pt x="6350000" y="79604"/>
                    <a:pt x="6350000" y="177800"/>
                  </a:cubicBezTo>
                  <a:lnTo>
                    <a:pt x="6350000" y="1600200"/>
                  </a:lnTo>
                  <a:cubicBezTo>
                    <a:pt x="6350000" y="1698396"/>
                    <a:pt x="6270396" y="1778000"/>
                    <a:pt x="6172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6350000" cy="18732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Audit</a:t>
              </a:r>
              <a:r>
                <a:rPr lang="en-US" b="true" sz="2799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Category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flipH="true">
            <a:off x="15342886" y="4142313"/>
            <a:ext cx="57362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5620173" y="5962650"/>
            <a:ext cx="0" cy="5736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8143429"/>
            <a:ext cx="8295947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sz="3000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Mismatch cases are treated as review signals, not direct proof of unfairness.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916606" y="299085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71190" y="3397743"/>
            <a:ext cx="5412840" cy="2465064"/>
            <a:chOff x="0" y="0"/>
            <a:chExt cx="3073925" cy="13998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73925" cy="1399898"/>
            </a:xfrm>
            <a:custGeom>
              <a:avLst/>
              <a:gdLst/>
              <a:ahLst/>
              <a:cxnLst/>
              <a:rect r="r" b="b" t="t" l="l"/>
              <a:pathLst>
                <a:path h="1399898" w="3073925">
                  <a:moveTo>
                    <a:pt x="28606" y="0"/>
                  </a:moveTo>
                  <a:lnTo>
                    <a:pt x="3045319" y="0"/>
                  </a:lnTo>
                  <a:cubicBezTo>
                    <a:pt x="3061118" y="0"/>
                    <a:pt x="3073925" y="12807"/>
                    <a:pt x="3073925" y="28606"/>
                  </a:cubicBezTo>
                  <a:lnTo>
                    <a:pt x="3073925" y="1371292"/>
                  </a:lnTo>
                  <a:cubicBezTo>
                    <a:pt x="3073925" y="1387090"/>
                    <a:pt x="3061118" y="1399898"/>
                    <a:pt x="3045319" y="1399898"/>
                  </a:cubicBezTo>
                  <a:lnTo>
                    <a:pt x="28606" y="1399898"/>
                  </a:lnTo>
                  <a:cubicBezTo>
                    <a:pt x="12807" y="1399898"/>
                    <a:pt x="0" y="1387090"/>
                    <a:pt x="0" y="1371292"/>
                  </a:cubicBezTo>
                  <a:lnTo>
                    <a:pt x="0" y="28606"/>
                  </a:lnTo>
                  <a:cubicBezTo>
                    <a:pt x="0" y="12807"/>
                    <a:pt x="12807" y="0"/>
                    <a:pt x="28606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3073925" cy="147609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Correct Recognition: KPI-based prediction and actual promotion decision are aligned.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279279" y="414231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3731160" y="5977107"/>
            <a:ext cx="5412840" cy="2465064"/>
            <a:chOff x="0" y="0"/>
            <a:chExt cx="3073925" cy="139989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73925" cy="1399898"/>
            </a:xfrm>
            <a:custGeom>
              <a:avLst/>
              <a:gdLst/>
              <a:ahLst/>
              <a:cxnLst/>
              <a:rect r="r" b="b" t="t" l="l"/>
              <a:pathLst>
                <a:path h="1399898" w="3073925">
                  <a:moveTo>
                    <a:pt x="28606" y="0"/>
                  </a:moveTo>
                  <a:lnTo>
                    <a:pt x="3045319" y="0"/>
                  </a:lnTo>
                  <a:cubicBezTo>
                    <a:pt x="3061118" y="0"/>
                    <a:pt x="3073925" y="12807"/>
                    <a:pt x="3073925" y="28606"/>
                  </a:cubicBezTo>
                  <a:lnTo>
                    <a:pt x="3073925" y="1371292"/>
                  </a:lnTo>
                  <a:cubicBezTo>
                    <a:pt x="3073925" y="1387090"/>
                    <a:pt x="3061118" y="1399898"/>
                    <a:pt x="3045319" y="1399898"/>
                  </a:cubicBezTo>
                  <a:lnTo>
                    <a:pt x="28606" y="1399898"/>
                  </a:lnTo>
                  <a:cubicBezTo>
                    <a:pt x="12807" y="1399898"/>
                    <a:pt x="0" y="1387090"/>
                    <a:pt x="0" y="1371292"/>
                  </a:cubicBezTo>
                  <a:lnTo>
                    <a:pt x="0" y="28606"/>
                  </a:lnTo>
                  <a:cubicBezTo>
                    <a:pt x="0" y="12807"/>
                    <a:pt x="12807" y="0"/>
                    <a:pt x="28606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3073925" cy="147609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Undeserved / Low Merit Promotion: the employee was promoted, but the model does not predict promotion readiness.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37580" y="3397743"/>
            <a:ext cx="5412840" cy="2465064"/>
            <a:chOff x="0" y="0"/>
            <a:chExt cx="3073925" cy="139989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073925" cy="1399898"/>
            </a:xfrm>
            <a:custGeom>
              <a:avLst/>
              <a:gdLst/>
              <a:ahLst/>
              <a:cxnLst/>
              <a:rect r="r" b="b" t="t" l="l"/>
              <a:pathLst>
                <a:path h="1399898" w="3073925">
                  <a:moveTo>
                    <a:pt x="28606" y="0"/>
                  </a:moveTo>
                  <a:lnTo>
                    <a:pt x="3045319" y="0"/>
                  </a:lnTo>
                  <a:cubicBezTo>
                    <a:pt x="3061118" y="0"/>
                    <a:pt x="3073925" y="12807"/>
                    <a:pt x="3073925" y="28606"/>
                  </a:cubicBezTo>
                  <a:lnTo>
                    <a:pt x="3073925" y="1371292"/>
                  </a:lnTo>
                  <a:cubicBezTo>
                    <a:pt x="3073925" y="1387090"/>
                    <a:pt x="3061118" y="1399898"/>
                    <a:pt x="3045319" y="1399898"/>
                  </a:cubicBezTo>
                  <a:lnTo>
                    <a:pt x="28606" y="1399898"/>
                  </a:lnTo>
                  <a:cubicBezTo>
                    <a:pt x="12807" y="1399898"/>
                    <a:pt x="0" y="1387090"/>
                    <a:pt x="0" y="1371292"/>
                  </a:cubicBezTo>
                  <a:lnTo>
                    <a:pt x="0" y="28606"/>
                  </a:lnTo>
                  <a:cubicBezTo>
                    <a:pt x="0" y="12807"/>
                    <a:pt x="12807" y="0"/>
                    <a:pt x="28606" y="0"/>
                  </a:cubicBezTo>
                  <a:close/>
                </a:path>
              </a:pathLst>
            </a:custGeom>
            <a:solidFill>
              <a:srgbClr val="47B7B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76200"/>
              <a:ext cx="3073925" cy="147609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Hidden Talent / Overlooked Employee: the model predicts promotion readiness, but the employee was not promoted.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55250" y="7837673"/>
            <a:ext cx="6965249" cy="6965249"/>
          </a:xfrm>
          <a:custGeom>
            <a:avLst/>
            <a:gdLst/>
            <a:ahLst/>
            <a:cxnLst/>
            <a:rect r="r" b="b" t="t" l="l"/>
            <a:pathLst>
              <a:path h="6965249" w="6965249">
                <a:moveTo>
                  <a:pt x="0" y="0"/>
                </a:moveTo>
                <a:lnTo>
                  <a:pt x="6965249" y="0"/>
                </a:lnTo>
                <a:lnTo>
                  <a:pt x="6965249" y="6965249"/>
                </a:lnTo>
                <a:lnTo>
                  <a:pt x="0" y="6965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6466" y="7933134"/>
            <a:ext cx="2650333" cy="2650333"/>
          </a:xfrm>
          <a:custGeom>
            <a:avLst/>
            <a:gdLst/>
            <a:ahLst/>
            <a:cxnLst/>
            <a:rect r="r" b="b" t="t" l="l"/>
            <a:pathLst>
              <a:path h="2650333" w="2650333">
                <a:moveTo>
                  <a:pt x="0" y="0"/>
                </a:moveTo>
                <a:lnTo>
                  <a:pt x="2650332" y="0"/>
                </a:lnTo>
                <a:lnTo>
                  <a:pt x="2650332" y="2650332"/>
                </a:lnTo>
                <a:lnTo>
                  <a:pt x="0" y="2650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21731" y="8116412"/>
            <a:ext cx="3900861" cy="2283777"/>
          </a:xfrm>
          <a:custGeom>
            <a:avLst/>
            <a:gdLst/>
            <a:ahLst/>
            <a:cxnLst/>
            <a:rect r="r" b="b" t="t" l="l"/>
            <a:pathLst>
              <a:path h="2283777" w="3900861">
                <a:moveTo>
                  <a:pt x="0" y="0"/>
                </a:moveTo>
                <a:lnTo>
                  <a:pt x="3900862" y="0"/>
                </a:lnTo>
                <a:lnTo>
                  <a:pt x="3900862" y="2283776"/>
                </a:lnTo>
                <a:lnTo>
                  <a:pt x="0" y="2283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2820394"/>
            <a:ext cx="15721468" cy="588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KPI-based model showed stronger alignment under KPI-consistent conditions, while mismatch cases became more visible in the real HR dataset.</a:t>
            </a:r>
          </a:p>
          <a:p>
            <a:pPr algn="l">
              <a:lnSpc>
                <a:spcPts val="4200"/>
              </a:lnSpc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 the synthetic KPI datasets, most cases fall under Correct Recognition.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 the real HR dataset, Hidden Talent and Low Merit Promotion cases become more visible.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This suggests a measurable gap between KPI-based promotion readiness and historical promotion outcomes.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The model is used as an audit benchmark, not as a final promotion decision-maker.</a:t>
            </a:r>
          </a:p>
          <a:p>
            <a:pPr algn="l">
              <a:lnSpc>
                <a:spcPts val="4200"/>
              </a:lnSpc>
            </a:pPr>
          </a:p>
          <a:p>
            <a:pPr algn="l" marL="0" indent="0" lvl="0">
              <a:lnSpc>
                <a:spcPts val="41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64420"/>
            <a:ext cx="13477726" cy="236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Comparison of Audit Results Across Datasets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076739" y="29473"/>
            <a:ext cx="0" cy="10257527"/>
          </a:xfrm>
          <a:prstGeom prst="line">
            <a:avLst/>
          </a:prstGeom>
          <a:ln cap="rnd" w="95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719841" y="603690"/>
            <a:ext cx="7795032" cy="4416904"/>
          </a:xfrm>
          <a:custGeom>
            <a:avLst/>
            <a:gdLst/>
            <a:ahLst/>
            <a:cxnLst/>
            <a:rect r="r" b="b" t="t" l="l"/>
            <a:pathLst>
              <a:path h="4416904" w="7795032">
                <a:moveTo>
                  <a:pt x="0" y="0"/>
                </a:moveTo>
                <a:lnTo>
                  <a:pt x="7795031" y="0"/>
                </a:lnTo>
                <a:lnTo>
                  <a:pt x="7795031" y="4416904"/>
                </a:lnTo>
                <a:lnTo>
                  <a:pt x="0" y="44169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095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19841" y="5269204"/>
            <a:ext cx="7795032" cy="4393375"/>
          </a:xfrm>
          <a:custGeom>
            <a:avLst/>
            <a:gdLst/>
            <a:ahLst/>
            <a:cxnLst/>
            <a:rect r="r" b="b" t="t" l="l"/>
            <a:pathLst>
              <a:path h="4393375" w="7795032">
                <a:moveTo>
                  <a:pt x="0" y="0"/>
                </a:moveTo>
                <a:lnTo>
                  <a:pt x="7795031" y="0"/>
                </a:lnTo>
                <a:lnTo>
                  <a:pt x="7795031" y="4393375"/>
                </a:lnTo>
                <a:lnTo>
                  <a:pt x="0" y="4393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658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552636" y="1227506"/>
            <a:ext cx="2216395" cy="2220562"/>
            <a:chOff x="0" y="0"/>
            <a:chExt cx="896225" cy="8979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6225" cy="897910"/>
            </a:xfrm>
            <a:custGeom>
              <a:avLst/>
              <a:gdLst/>
              <a:ahLst/>
              <a:cxnLst/>
              <a:rect r="r" b="b" t="t" l="l"/>
              <a:pathLst>
                <a:path h="897910" w="896225">
                  <a:moveTo>
                    <a:pt x="448113" y="0"/>
                  </a:moveTo>
                  <a:cubicBezTo>
                    <a:pt x="200627" y="0"/>
                    <a:pt x="0" y="201004"/>
                    <a:pt x="0" y="448955"/>
                  </a:cubicBezTo>
                  <a:cubicBezTo>
                    <a:pt x="0" y="696906"/>
                    <a:pt x="200627" y="897910"/>
                    <a:pt x="448113" y="897910"/>
                  </a:cubicBezTo>
                  <a:cubicBezTo>
                    <a:pt x="695598" y="897910"/>
                    <a:pt x="896225" y="696906"/>
                    <a:pt x="896225" y="448955"/>
                  </a:cubicBezTo>
                  <a:cubicBezTo>
                    <a:pt x="896225" y="201004"/>
                    <a:pt x="695598" y="0"/>
                    <a:pt x="44811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84021" y="7979"/>
              <a:ext cx="728183" cy="805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Synthetic KPI Dataset 1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Accuracy: 0.77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12052" y="5269204"/>
            <a:ext cx="7773636" cy="4393375"/>
          </a:xfrm>
          <a:custGeom>
            <a:avLst/>
            <a:gdLst/>
            <a:ahLst/>
            <a:cxnLst/>
            <a:rect r="r" b="b" t="t" l="l"/>
            <a:pathLst>
              <a:path h="4393375" w="7773636">
                <a:moveTo>
                  <a:pt x="0" y="0"/>
                </a:moveTo>
                <a:lnTo>
                  <a:pt x="7773636" y="0"/>
                </a:lnTo>
                <a:lnTo>
                  <a:pt x="7773636" y="4393375"/>
                </a:lnTo>
                <a:lnTo>
                  <a:pt x="0" y="43933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658" r="-275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57388" y="5541955"/>
            <a:ext cx="1920326" cy="1923936"/>
            <a:chOff x="0" y="0"/>
            <a:chExt cx="896225" cy="8979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6225" cy="897910"/>
            </a:xfrm>
            <a:custGeom>
              <a:avLst/>
              <a:gdLst/>
              <a:ahLst/>
              <a:cxnLst/>
              <a:rect r="r" b="b" t="t" l="l"/>
              <a:pathLst>
                <a:path h="897910" w="896225">
                  <a:moveTo>
                    <a:pt x="448113" y="0"/>
                  </a:moveTo>
                  <a:cubicBezTo>
                    <a:pt x="200627" y="0"/>
                    <a:pt x="0" y="201004"/>
                    <a:pt x="0" y="448955"/>
                  </a:cubicBezTo>
                  <a:cubicBezTo>
                    <a:pt x="0" y="696906"/>
                    <a:pt x="200627" y="897910"/>
                    <a:pt x="448113" y="897910"/>
                  </a:cubicBezTo>
                  <a:cubicBezTo>
                    <a:pt x="695598" y="897910"/>
                    <a:pt x="896225" y="696906"/>
                    <a:pt x="896225" y="448955"/>
                  </a:cubicBezTo>
                  <a:cubicBezTo>
                    <a:pt x="896225" y="201004"/>
                    <a:pt x="695598" y="0"/>
                    <a:pt x="448113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84021" y="7979"/>
              <a:ext cx="728183" cy="8057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Real HR Dataset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Accuracy: 0.52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12052" y="537015"/>
            <a:ext cx="7765972" cy="2880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86"/>
              </a:lnSpc>
            </a:pPr>
            <a:r>
              <a:rPr lang="en-US" b="true" sz="6155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Comparison of Audit Results Across Datasets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74035" y="3391819"/>
            <a:ext cx="5682965" cy="162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Mismatch categories indicate cases for further HR review, not direct proof of unfairness.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552636" y="5758605"/>
            <a:ext cx="2331121" cy="2338833"/>
            <a:chOff x="0" y="0"/>
            <a:chExt cx="942616" cy="945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42616" cy="945734"/>
            </a:xfrm>
            <a:custGeom>
              <a:avLst/>
              <a:gdLst/>
              <a:ahLst/>
              <a:cxnLst/>
              <a:rect r="r" b="b" t="t" l="l"/>
              <a:pathLst>
                <a:path h="945734" w="942616">
                  <a:moveTo>
                    <a:pt x="471308" y="0"/>
                  </a:moveTo>
                  <a:cubicBezTo>
                    <a:pt x="211012" y="0"/>
                    <a:pt x="0" y="211710"/>
                    <a:pt x="0" y="472867"/>
                  </a:cubicBezTo>
                  <a:cubicBezTo>
                    <a:pt x="0" y="734025"/>
                    <a:pt x="211012" y="945734"/>
                    <a:pt x="471308" y="945734"/>
                  </a:cubicBezTo>
                  <a:cubicBezTo>
                    <a:pt x="731604" y="945734"/>
                    <a:pt x="942616" y="734025"/>
                    <a:pt x="942616" y="472867"/>
                  </a:cubicBezTo>
                  <a:cubicBezTo>
                    <a:pt x="942616" y="211710"/>
                    <a:pt x="731604" y="0"/>
                    <a:pt x="471308" y="0"/>
                  </a:cubicBezTo>
                  <a:close/>
                </a:path>
              </a:pathLst>
            </a:custGeom>
            <a:solidFill>
              <a:srgbClr val="EDED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88370" y="12463"/>
              <a:ext cx="765875" cy="844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Synthetic KPI Dataset 2</a:t>
              </a:r>
            </a:p>
            <a:p>
              <a:pPr algn="ctr">
                <a:lnSpc>
                  <a:spcPts val="28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Accuracy: 0.80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4567" y="5963091"/>
            <a:ext cx="6965249" cy="6965249"/>
          </a:xfrm>
          <a:custGeom>
            <a:avLst/>
            <a:gdLst/>
            <a:ahLst/>
            <a:cxnLst/>
            <a:rect r="r" b="b" t="t" l="l"/>
            <a:pathLst>
              <a:path h="6965249" w="6965249">
                <a:moveTo>
                  <a:pt x="0" y="0"/>
                </a:moveTo>
                <a:lnTo>
                  <a:pt x="6965249" y="0"/>
                </a:lnTo>
                <a:lnTo>
                  <a:pt x="6965249" y="6965249"/>
                </a:lnTo>
                <a:lnTo>
                  <a:pt x="0" y="6965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59010" y="5143500"/>
            <a:ext cx="2978529" cy="2978529"/>
          </a:xfrm>
          <a:custGeom>
            <a:avLst/>
            <a:gdLst/>
            <a:ahLst/>
            <a:cxnLst/>
            <a:rect r="r" b="b" t="t" l="l"/>
            <a:pathLst>
              <a:path h="2978529" w="2978529">
                <a:moveTo>
                  <a:pt x="0" y="0"/>
                </a:moveTo>
                <a:lnTo>
                  <a:pt x="2978529" y="0"/>
                </a:lnTo>
                <a:lnTo>
                  <a:pt x="2978529" y="2978529"/>
                </a:lnTo>
                <a:lnTo>
                  <a:pt x="0" y="2978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6609" y="1636073"/>
            <a:ext cx="15214782" cy="8254019"/>
          </a:xfrm>
          <a:custGeom>
            <a:avLst/>
            <a:gdLst/>
            <a:ahLst/>
            <a:cxnLst/>
            <a:rect r="r" b="b" t="t" l="l"/>
            <a:pathLst>
              <a:path h="8254019" w="15214782">
                <a:moveTo>
                  <a:pt x="0" y="0"/>
                </a:moveTo>
                <a:lnTo>
                  <a:pt x="15214782" y="0"/>
                </a:lnTo>
                <a:lnTo>
                  <a:pt x="15214782" y="8254019"/>
                </a:lnTo>
                <a:lnTo>
                  <a:pt x="0" y="8254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6609" y="492068"/>
            <a:ext cx="162306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Streamlit Dashboard Prototype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57902" y="5728316"/>
            <a:ext cx="6965249" cy="6965249"/>
          </a:xfrm>
          <a:custGeom>
            <a:avLst/>
            <a:gdLst/>
            <a:ahLst/>
            <a:cxnLst/>
            <a:rect r="r" b="b" t="t" l="l"/>
            <a:pathLst>
              <a:path h="6965249" w="6965249">
                <a:moveTo>
                  <a:pt x="0" y="0"/>
                </a:moveTo>
                <a:lnTo>
                  <a:pt x="6965248" y="0"/>
                </a:lnTo>
                <a:lnTo>
                  <a:pt x="6965248" y="6965249"/>
                </a:lnTo>
                <a:lnTo>
                  <a:pt x="0" y="6965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305976"/>
            <a:ext cx="10781127" cy="376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AI can support fairer HR promotion processes when used as an auditing tool.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Identifies alignment and mismatch cases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Treats mismatches as review signals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upports a human-in-the-loop approach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Improves transparency and evidence-based HR review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597934" y="4010951"/>
            <a:ext cx="4166886" cy="4114800"/>
          </a:xfrm>
          <a:custGeom>
            <a:avLst/>
            <a:gdLst/>
            <a:ahLst/>
            <a:cxnLst/>
            <a:rect r="r" b="b" t="t" l="l"/>
            <a:pathLst>
              <a:path h="4114800" w="4166886">
                <a:moveTo>
                  <a:pt x="0" y="0"/>
                </a:moveTo>
                <a:lnTo>
                  <a:pt x="4166886" y="0"/>
                </a:lnTo>
                <a:lnTo>
                  <a:pt x="416688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52500"/>
            <a:ext cx="1623060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5400000">
            <a:off x="1792016" y="5146282"/>
            <a:ext cx="10257527" cy="0"/>
          </a:xfrm>
          <a:prstGeom prst="line">
            <a:avLst/>
          </a:prstGeom>
          <a:ln cap="rnd" w="9525">
            <a:solidFill>
              <a:srgbClr val="000000">
                <a:alpha val="2980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53572" y="-1609091"/>
            <a:ext cx="8655810" cy="8655810"/>
          </a:xfrm>
          <a:custGeom>
            <a:avLst/>
            <a:gdLst/>
            <a:ahLst/>
            <a:cxnLst/>
            <a:rect r="r" b="b" t="t" l="l"/>
            <a:pathLst>
              <a:path h="8655810" w="8655810">
                <a:moveTo>
                  <a:pt x="0" y="0"/>
                </a:moveTo>
                <a:lnTo>
                  <a:pt x="8655810" y="0"/>
                </a:lnTo>
                <a:lnTo>
                  <a:pt x="8655810" y="8655810"/>
                </a:lnTo>
                <a:lnTo>
                  <a:pt x="0" y="86558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293899" y="4138645"/>
            <a:ext cx="4220068" cy="4220068"/>
          </a:xfrm>
          <a:custGeom>
            <a:avLst/>
            <a:gdLst/>
            <a:ahLst/>
            <a:cxnLst/>
            <a:rect r="r" b="b" t="t" l="l"/>
            <a:pathLst>
              <a:path h="4220068" w="4220068">
                <a:moveTo>
                  <a:pt x="0" y="0"/>
                </a:moveTo>
                <a:lnTo>
                  <a:pt x="4220068" y="0"/>
                </a:lnTo>
                <a:lnTo>
                  <a:pt x="4220068" y="4220068"/>
                </a:lnTo>
                <a:lnTo>
                  <a:pt x="0" y="42200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13401" y="2613389"/>
            <a:ext cx="9165020" cy="220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04"/>
              </a:lnSpc>
            </a:pPr>
            <a:r>
              <a:rPr lang="en-US" sz="1358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96804" y="4405525"/>
            <a:ext cx="9499283" cy="73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52"/>
              </a:lnSpc>
            </a:pPr>
            <a:r>
              <a:rPr lang="en-US" sz="434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Questions &amp; Discuss</a:t>
            </a:r>
            <a:r>
              <a:rPr lang="en-US" sz="4347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96804" y="5998969"/>
            <a:ext cx="9116864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İrem Yıldız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AI-Based KPI Audit Framework </a:t>
            </a: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for Promotion</a:t>
            </a:r>
            <a:r>
              <a:rPr lang="en-US" sz="3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Fairness in Human Resources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DAHL-tFfQKw</dc:identifier>
  <dcterms:modified xsi:type="dcterms:W3CDTF">2011-08-01T06:04:30Z</dcterms:modified>
  <cp:revision>1</cp:revision>
  <dc:title>güzProjectSunum</dc:title>
</cp:coreProperties>
</file>